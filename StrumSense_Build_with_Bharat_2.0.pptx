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2C4BBF-9ACF-428D-8BFB-1B70B47D1A4F}" v="13" dt="2026-09-01T11:28:32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ingh" userId="59ab53f7b0af5e8b" providerId="LiveId" clId="{9E36CD2A-74E6-40E8-A8E9-578E1CDB348B}"/>
    <pc:docChg chg="undo custSel modSld">
      <pc:chgData name="Aman Singh" userId="59ab53f7b0af5e8b" providerId="LiveId" clId="{9E36CD2A-74E6-40E8-A8E9-578E1CDB348B}" dt="2026-09-01T11:30:09.100" v="327" actId="20577"/>
      <pc:docMkLst>
        <pc:docMk/>
      </pc:docMkLst>
      <pc:sldChg chg="modSp mod">
        <pc:chgData name="Aman Singh" userId="59ab53f7b0af5e8b" providerId="LiveId" clId="{9E36CD2A-74E6-40E8-A8E9-578E1CDB348B}" dt="2026-09-01T11:30:09.100" v="327" actId="20577"/>
        <pc:sldMkLst>
          <pc:docMk/>
          <pc:sldMk cId="0" sldId="256"/>
        </pc:sldMkLst>
        <pc:spChg chg="mod">
          <ac:chgData name="Aman Singh" userId="59ab53f7b0af5e8b" providerId="LiveId" clId="{9E36CD2A-74E6-40E8-A8E9-578E1CDB348B}" dt="2026-09-01T11:28:00.722" v="252" actId="113"/>
          <ac:spMkLst>
            <pc:docMk/>
            <pc:sldMk cId="0" sldId="256"/>
            <ac:spMk id="13" creationId="{00000000-0000-0000-0000-000000000000}"/>
          </ac:spMkLst>
        </pc:spChg>
        <pc:spChg chg="mod">
          <ac:chgData name="Aman Singh" userId="59ab53f7b0af5e8b" providerId="LiveId" clId="{9E36CD2A-74E6-40E8-A8E9-578E1CDB348B}" dt="2026-09-01T11:30:09.100" v="327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Aman Singh" userId="59ab53f7b0af5e8b" providerId="LiveId" clId="{9E36CD2A-74E6-40E8-A8E9-578E1CDB348B}" dt="2026-09-01T11:28:54.338" v="325" actId="113"/>
          <ac:spMkLst>
            <pc:docMk/>
            <pc:sldMk cId="0" sldId="256"/>
            <ac:spMk id="16" creationId="{00000000-0000-0000-0000-000000000000}"/>
          </ac:spMkLst>
        </pc:spChg>
      </pc:sldChg>
      <pc:sldChg chg="modSp mod">
        <pc:chgData name="Aman Singh" userId="59ab53f7b0af5e8b" providerId="LiveId" clId="{9E36CD2A-74E6-40E8-A8E9-578E1CDB348B}" dt="2026-08-29T05:16:14.195" v="91" actId="20577"/>
        <pc:sldMkLst>
          <pc:docMk/>
          <pc:sldMk cId="0" sldId="259"/>
        </pc:sldMkLst>
        <pc:spChg chg="mod">
          <ac:chgData name="Aman Singh" userId="59ab53f7b0af5e8b" providerId="LiveId" clId="{9E36CD2A-74E6-40E8-A8E9-578E1CDB348B}" dt="2026-08-29T05:16:14.195" v="91" actId="20577"/>
          <ac:spMkLst>
            <pc:docMk/>
            <pc:sldMk cId="0" sldId="259"/>
            <ac:spMk id="39" creationId="{00000000-0000-0000-0000-000000000000}"/>
          </ac:spMkLst>
        </pc:spChg>
      </pc:sldChg>
      <pc:sldChg chg="addSp delSp modSp mod">
        <pc:chgData name="Aman Singh" userId="59ab53f7b0af5e8b" providerId="LiveId" clId="{9E36CD2A-74E6-40E8-A8E9-578E1CDB348B}" dt="2026-08-29T05:29:40.957" v="99" actId="20577"/>
        <pc:sldMkLst>
          <pc:docMk/>
          <pc:sldMk cId="0" sldId="263"/>
        </pc:sldMkLst>
        <pc:spChg chg="add del mod">
          <ac:chgData name="Aman Singh" userId="59ab53f7b0af5e8b" providerId="LiveId" clId="{9E36CD2A-74E6-40E8-A8E9-578E1CDB348B}" dt="2026-08-29T05:29:40.957" v="99" actId="20577"/>
          <ac:spMkLst>
            <pc:docMk/>
            <pc:sldMk cId="0" sldId="263"/>
            <ac:spMk id="15" creationId="{00000000-0000-0000-0000-000000000000}"/>
          </ac:spMkLst>
        </pc:spChg>
        <pc:spChg chg="add mod">
          <ac:chgData name="Aman Singh" userId="59ab53f7b0af5e8b" providerId="LiveId" clId="{9E36CD2A-74E6-40E8-A8E9-578E1CDB348B}" dt="2026-08-29T05:06:25.130" v="58" actId="1076"/>
          <ac:spMkLst>
            <pc:docMk/>
            <pc:sldMk cId="0" sldId="263"/>
            <ac:spMk id="21" creationId="{1D0E17CE-03C1-56C2-A3AD-7B9BC9DFEF5A}"/>
          </ac:spMkLst>
        </pc:spChg>
        <pc:picChg chg="add mod">
          <ac:chgData name="Aman Singh" userId="59ab53f7b0af5e8b" providerId="LiveId" clId="{9E36CD2A-74E6-40E8-A8E9-578E1CDB348B}" dt="2026-08-29T05:02:03.886" v="21" actId="1076"/>
          <ac:picMkLst>
            <pc:docMk/>
            <pc:sldMk cId="0" sldId="263"/>
            <ac:picMk id="20" creationId="{D6899AFB-00CC-1DF5-6B17-56C07E1147B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7573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914400"/>
            <a:ext cx="5029200" cy="5029200"/>
          </a:xfrm>
          <a:prstGeom prst="rect">
            <a:avLst/>
          </a:prstGeom>
        </p:spPr>
      </p:pic>
      <p:pic>
        <p:nvPicPr>
          <p:cNvPr id="3" name="Image 1" descr="/home/claude/work/assets/logo_ni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6032"/>
            <a:ext cx="822960" cy="822960"/>
          </a:xfrm>
          <a:prstGeom prst="rect">
            <a:avLst/>
          </a:prstGeom>
        </p:spPr>
      </p:pic>
      <p:pic>
        <p:nvPicPr>
          <p:cNvPr id="4" name="Image 2" descr="/home/claude/work/assets/logo_codevers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109728"/>
            <a:ext cx="1463040" cy="1188720"/>
          </a:xfrm>
          <a:prstGeom prst="rect">
            <a:avLst/>
          </a:prstGeom>
        </p:spPr>
      </p:pic>
      <p:pic>
        <p:nvPicPr>
          <p:cNvPr id="5" name="Image 3" descr="/home/claude/work/assets/logo_up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292608"/>
            <a:ext cx="777240" cy="77724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74320" y="6565392"/>
            <a:ext cx="4572000" cy="50292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7" name="Shape 1"/>
          <p:cNvSpPr/>
          <p:nvPr/>
        </p:nvSpPr>
        <p:spPr>
          <a:xfrm>
            <a:off x="7342632" y="6565392"/>
            <a:ext cx="4572000" cy="50292"/>
          </a:xfrm>
          <a:prstGeom prst="rect">
            <a:avLst/>
          </a:prstGeom>
          <a:solidFill>
            <a:srgbClr val="15762B"/>
          </a:solidFill>
          <a:ln/>
        </p:spPr>
      </p:sp>
      <p:sp>
        <p:nvSpPr>
          <p:cNvPr id="8" name="Text 2"/>
          <p:cNvSpPr txBox="1"/>
          <p:nvPr/>
        </p:nvSpPr>
        <p:spPr>
          <a:xfrm>
            <a:off x="4846320" y="644652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 </a:t>
            </a:r>
            <a:r>
              <a:rPr lang="en-US" sz="1000" b="1" dirty="0">
                <a:solidFill>
                  <a:srgbClr val="FF5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भारत 2.0</a:t>
            </a:r>
            <a:endParaRPr lang="en-US" sz="1000" dirty="0"/>
          </a:p>
        </p:txBody>
      </p:sp>
      <p:sp>
        <p:nvSpPr>
          <p:cNvPr id="9" name="Text 3"/>
          <p:cNvSpPr txBox="1"/>
          <p:nvPr/>
        </p:nvSpPr>
        <p:spPr>
          <a:xfrm>
            <a:off x="457200" y="14173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r>
              <a:rPr lang="en-US" sz="2600" b="1" dirty="0">
                <a:solidFill>
                  <a:srgbClr val="872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WITH  </a:t>
            </a:r>
            <a:endParaRPr lang="en-US" sz="5400" dirty="0"/>
          </a:p>
        </p:txBody>
      </p:sp>
      <p:sp>
        <p:nvSpPr>
          <p:cNvPr id="10" name="Text 4"/>
          <p:cNvSpPr txBox="1"/>
          <p:nvPr/>
        </p:nvSpPr>
        <p:spPr>
          <a:xfrm>
            <a:off x="457200" y="205740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5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भारत 2.0</a:t>
            </a:r>
            <a:endParaRPr lang="en-US" sz="6200" dirty="0"/>
          </a:p>
        </p:txBody>
      </p:sp>
      <p:sp>
        <p:nvSpPr>
          <p:cNvPr id="11" name="Text 5"/>
          <p:cNvSpPr txBox="1"/>
          <p:nvPr/>
        </p:nvSpPr>
        <p:spPr>
          <a:xfrm>
            <a:off x="457200" y="3063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LEVEL HACKATHON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548640" y="3977640"/>
            <a:ext cx="640080" cy="27432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13" name="Text 7"/>
          <p:cNvSpPr txBox="1"/>
          <p:nvPr/>
        </p:nvSpPr>
        <p:spPr>
          <a:xfrm>
            <a:off x="54864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 </a:t>
            </a: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IN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458114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 </a:t>
            </a: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Hybrid Audio-Visual Guitar Learning Assistant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50017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MEMBERS:  </a:t>
            </a: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 Singh, Anusha Singh, Abhay Rawat, Aaditya, </a:t>
            </a:r>
            <a:r>
              <a:rPr lang="en-US" sz="1400" dirty="0" err="1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Tejshwini</a:t>
            </a: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Rathore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54223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COLLEGE: 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Noida </a:t>
            </a:r>
            <a:r>
              <a:rPr lang="en-IN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 of Engineering &amp; Technology, Gr. Noida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914400"/>
            <a:ext cx="5029200" cy="5029200"/>
          </a:xfrm>
          <a:prstGeom prst="rect">
            <a:avLst/>
          </a:prstGeom>
        </p:spPr>
      </p:pic>
      <p:pic>
        <p:nvPicPr>
          <p:cNvPr id="3" name="Image 1" descr="/home/claude/work/assets/logo_ni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6032"/>
            <a:ext cx="822960" cy="822960"/>
          </a:xfrm>
          <a:prstGeom prst="rect">
            <a:avLst/>
          </a:prstGeom>
        </p:spPr>
      </p:pic>
      <p:pic>
        <p:nvPicPr>
          <p:cNvPr id="4" name="Image 2" descr="/home/claude/work/assets/logo_codevers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109728"/>
            <a:ext cx="1463040" cy="1188720"/>
          </a:xfrm>
          <a:prstGeom prst="rect">
            <a:avLst/>
          </a:prstGeom>
        </p:spPr>
      </p:pic>
      <p:pic>
        <p:nvPicPr>
          <p:cNvPr id="5" name="Image 3" descr="/home/claude/work/assets/logo_up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292608"/>
            <a:ext cx="777240" cy="77724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74320" y="6565392"/>
            <a:ext cx="4572000" cy="50292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7" name="Shape 1"/>
          <p:cNvSpPr/>
          <p:nvPr/>
        </p:nvSpPr>
        <p:spPr>
          <a:xfrm>
            <a:off x="7342632" y="6565392"/>
            <a:ext cx="4572000" cy="50292"/>
          </a:xfrm>
          <a:prstGeom prst="rect">
            <a:avLst/>
          </a:prstGeom>
          <a:solidFill>
            <a:srgbClr val="15762B"/>
          </a:solidFill>
          <a:ln/>
        </p:spPr>
      </p:sp>
      <p:sp>
        <p:nvSpPr>
          <p:cNvPr id="8" name="Text 2"/>
          <p:cNvSpPr txBox="1"/>
          <p:nvPr/>
        </p:nvSpPr>
        <p:spPr>
          <a:xfrm>
            <a:off x="4846320" y="644652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 </a:t>
            </a:r>
            <a:r>
              <a:rPr lang="en-US" sz="1000" b="1" dirty="0">
                <a:solidFill>
                  <a:srgbClr val="FF5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भारत 2.0</a:t>
            </a:r>
            <a:endParaRPr lang="en-US" sz="1000" dirty="0"/>
          </a:p>
        </p:txBody>
      </p:sp>
      <p:sp>
        <p:nvSpPr>
          <p:cNvPr id="9" name="Shape 3"/>
          <p:cNvSpPr/>
          <p:nvPr/>
        </p:nvSpPr>
        <p:spPr>
          <a:xfrm>
            <a:off x="457200" y="1170432"/>
            <a:ext cx="82296" cy="502920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10" name="Text 4"/>
          <p:cNvSpPr txBox="1"/>
          <p:nvPr/>
        </p:nvSpPr>
        <p:spPr>
          <a:xfrm>
            <a:off x="658368" y="10789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11" name="Shape 5"/>
          <p:cNvSpPr/>
          <p:nvPr/>
        </p:nvSpPr>
        <p:spPr>
          <a:xfrm>
            <a:off x="8321040" y="1417320"/>
            <a:ext cx="3429000" cy="0"/>
          </a:xfrm>
          <a:prstGeom prst="line">
            <a:avLst/>
          </a:prstGeom>
          <a:noFill/>
          <a:ln w="25400">
            <a:solidFill>
              <a:srgbClr val="FF5C1F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11750040" y="1362456"/>
            <a:ext cx="109728" cy="109728"/>
          </a:xfrm>
          <a:prstGeom prst="ellipse">
            <a:avLst/>
          </a:prstGeom>
          <a:solidFill>
            <a:srgbClr val="FF5C1F"/>
          </a:solidFill>
          <a:ln/>
        </p:spPr>
      </p:sp>
      <p:sp>
        <p:nvSpPr>
          <p:cNvPr id="13" name="Text 7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5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Project: StrumSense — Tagline: An AI-Powered Hybrid Audio-Visual Guitar Assistant for All Skill Levels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640080" y="2148840"/>
            <a:ext cx="10881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Self-taught guitarists face a major hurdle: no real-time, accurate feedback while practicing alone.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Beginners struggle to know if they're playing the right chords or following the correct strumming pattern (e.g., Down-Down-Up-Up-Down-Up).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apps like Yousician rely only on audio — they detect chords but cannot see whether the strumming hand is moving in the correct rhythm.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human tutor, learners develop bad timing habits, and even advanced players lack tools to analyze micro-timing or auto-generate chord sheets from jam sessions.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914400"/>
            <a:ext cx="5029200" cy="5029200"/>
          </a:xfrm>
          <a:prstGeom prst="rect">
            <a:avLst/>
          </a:prstGeom>
        </p:spPr>
      </p:pic>
      <p:pic>
        <p:nvPicPr>
          <p:cNvPr id="3" name="Image 1" descr="/home/claude/work/assets/logo_ni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6032"/>
            <a:ext cx="822960" cy="822960"/>
          </a:xfrm>
          <a:prstGeom prst="rect">
            <a:avLst/>
          </a:prstGeom>
        </p:spPr>
      </p:pic>
      <p:pic>
        <p:nvPicPr>
          <p:cNvPr id="4" name="Image 2" descr="/home/claude/work/assets/logo_codevers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109728"/>
            <a:ext cx="1463040" cy="1188720"/>
          </a:xfrm>
          <a:prstGeom prst="rect">
            <a:avLst/>
          </a:prstGeom>
        </p:spPr>
      </p:pic>
      <p:pic>
        <p:nvPicPr>
          <p:cNvPr id="5" name="Image 3" descr="/home/claude/work/assets/logo_up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292608"/>
            <a:ext cx="777240" cy="77724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74320" y="6565392"/>
            <a:ext cx="4572000" cy="50292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7" name="Shape 1"/>
          <p:cNvSpPr/>
          <p:nvPr/>
        </p:nvSpPr>
        <p:spPr>
          <a:xfrm>
            <a:off x="7342632" y="6565392"/>
            <a:ext cx="4572000" cy="50292"/>
          </a:xfrm>
          <a:prstGeom prst="rect">
            <a:avLst/>
          </a:prstGeom>
          <a:solidFill>
            <a:srgbClr val="15762B"/>
          </a:solidFill>
          <a:ln/>
        </p:spPr>
      </p:sp>
      <p:sp>
        <p:nvSpPr>
          <p:cNvPr id="8" name="Text 2"/>
          <p:cNvSpPr txBox="1"/>
          <p:nvPr/>
        </p:nvSpPr>
        <p:spPr>
          <a:xfrm>
            <a:off x="4846320" y="644652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 </a:t>
            </a:r>
            <a:r>
              <a:rPr lang="en-US" sz="1000" b="1" dirty="0">
                <a:solidFill>
                  <a:srgbClr val="FF5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भारत 2.0</a:t>
            </a:r>
            <a:endParaRPr lang="en-US" sz="1000" dirty="0"/>
          </a:p>
        </p:txBody>
      </p:sp>
      <p:sp>
        <p:nvSpPr>
          <p:cNvPr id="9" name="Shape 3"/>
          <p:cNvSpPr/>
          <p:nvPr/>
        </p:nvSpPr>
        <p:spPr>
          <a:xfrm>
            <a:off x="457200" y="1170432"/>
            <a:ext cx="82296" cy="502920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10" name="Text 4"/>
          <p:cNvSpPr txBox="1"/>
          <p:nvPr/>
        </p:nvSpPr>
        <p:spPr>
          <a:xfrm>
            <a:off x="658368" y="10789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2800" dirty="0"/>
          </a:p>
        </p:txBody>
      </p:sp>
      <p:sp>
        <p:nvSpPr>
          <p:cNvPr id="11" name="Shape 5"/>
          <p:cNvSpPr/>
          <p:nvPr/>
        </p:nvSpPr>
        <p:spPr>
          <a:xfrm>
            <a:off x="8321040" y="1417320"/>
            <a:ext cx="3429000" cy="0"/>
          </a:xfrm>
          <a:prstGeom prst="line">
            <a:avLst/>
          </a:prstGeom>
          <a:noFill/>
          <a:ln w="25400">
            <a:solidFill>
              <a:srgbClr val="FF5C1F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11750040" y="1362456"/>
            <a:ext cx="109728" cy="109728"/>
          </a:xfrm>
          <a:prstGeom prst="ellipse">
            <a:avLst/>
          </a:prstGeom>
          <a:solidFill>
            <a:srgbClr val="FF5C1F"/>
          </a:solidFill>
          <a:ln/>
        </p:spPr>
      </p:sp>
      <p:sp>
        <p:nvSpPr>
          <p:cNvPr id="13" name="Text 7"/>
          <p:cNvSpPr txBox="1"/>
          <p:nvPr/>
        </p:nvSpPr>
        <p:spPr>
          <a:xfrm>
            <a:off x="640080" y="1645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Hybrid AI Approach — Dual-Engine Detection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640080" y="2011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Camera-only tracking fails because fingers hide each other behind the fretboard — so StrumSense listens AND watches.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640080" y="24688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BEFE8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914400" y="26334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Engine — The Ear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914400" y="30632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Listens via the microphone and identifies the chord being played using chroma-based audio analysis.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355080" y="24688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BEFE8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6629400" y="26334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Engine — The Eye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629400" y="30632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the camera to track the strumming hand's wrist motion, identifying Upstrokes vs Downstrokes in real time.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64008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4434840"/>
            <a:ext cx="10881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tracking: live camera feed with motion-tracking dots + chord/strum-direction text overlay.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recording &amp; smart analytics: timeline report of every chord and strum pattern played.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dashboard: stores past sessions so users can track timing and accuracy over weeks or months.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ni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822960" cy="822960"/>
          </a:xfrm>
          <a:prstGeom prst="rect">
            <a:avLst/>
          </a:prstGeom>
        </p:spPr>
      </p:pic>
      <p:pic>
        <p:nvPicPr>
          <p:cNvPr id="3" name="Image 1" descr="/home/claude/work/assets/logo_codevers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109728"/>
            <a:ext cx="1463040" cy="1188720"/>
          </a:xfrm>
          <a:prstGeom prst="rect">
            <a:avLst/>
          </a:prstGeom>
        </p:spPr>
      </p:pic>
      <p:pic>
        <p:nvPicPr>
          <p:cNvPr id="4" name="Image 2" descr="/home/claude/work/assets/logo_up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292608"/>
            <a:ext cx="777240" cy="77724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74320" y="6565392"/>
            <a:ext cx="4572000" cy="50292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6" name="Shape 1"/>
          <p:cNvSpPr/>
          <p:nvPr/>
        </p:nvSpPr>
        <p:spPr>
          <a:xfrm>
            <a:off x="7342632" y="6565392"/>
            <a:ext cx="4572000" cy="50292"/>
          </a:xfrm>
          <a:prstGeom prst="rect">
            <a:avLst/>
          </a:prstGeom>
          <a:solidFill>
            <a:srgbClr val="15762B"/>
          </a:solidFill>
          <a:ln/>
        </p:spPr>
      </p:sp>
      <p:sp>
        <p:nvSpPr>
          <p:cNvPr id="7" name="Text 2"/>
          <p:cNvSpPr txBox="1"/>
          <p:nvPr/>
        </p:nvSpPr>
        <p:spPr>
          <a:xfrm>
            <a:off x="4846320" y="644652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 </a:t>
            </a:r>
            <a:r>
              <a:rPr lang="en-US" sz="1000" b="1" dirty="0">
                <a:solidFill>
                  <a:srgbClr val="FF5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भारत 2.0</a:t>
            </a:r>
            <a:endParaRPr lang="en-US" sz="1000" dirty="0"/>
          </a:p>
        </p:txBody>
      </p:sp>
      <p:sp>
        <p:nvSpPr>
          <p:cNvPr id="8" name="Shape 3"/>
          <p:cNvSpPr/>
          <p:nvPr/>
        </p:nvSpPr>
        <p:spPr>
          <a:xfrm>
            <a:off x="457200" y="1170432"/>
            <a:ext cx="82296" cy="502920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658368" y="10789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OF SOLUTION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8321040" y="1417320"/>
            <a:ext cx="3429000" cy="0"/>
          </a:xfrm>
          <a:prstGeom prst="line">
            <a:avLst/>
          </a:prstGeom>
          <a:noFill/>
          <a:ln w="25400">
            <a:solidFill>
              <a:srgbClr val="FF5C1F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1750040" y="1362456"/>
            <a:ext cx="109728" cy="109728"/>
          </a:xfrm>
          <a:prstGeom prst="ellipse">
            <a:avLst/>
          </a:prstGeom>
          <a:solidFill>
            <a:srgbClr val="FF5C1F"/>
          </a:solidFill>
          <a:ln/>
        </p:spPr>
      </p:sp>
      <p:sp>
        <p:nvSpPr>
          <p:cNvPr id="12" name="Shape 7"/>
          <p:cNvSpPr/>
          <p:nvPr/>
        </p:nvSpPr>
        <p:spPr>
          <a:xfrm>
            <a:off x="548640" y="178308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FF5C1F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03504" y="1783080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 Input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2715768" y="1984248"/>
            <a:ext cx="201168" cy="146304"/>
          </a:xfrm>
          <a:prstGeom prst="rightArrow">
            <a:avLst/>
          </a:prstGeom>
          <a:solidFill>
            <a:srgbClr val="C9C9C9"/>
          </a:solidFill>
          <a:ln/>
        </p:spPr>
      </p:sp>
      <p:sp>
        <p:nvSpPr>
          <p:cNvPr id="15" name="Shape 10"/>
          <p:cNvSpPr/>
          <p:nvPr/>
        </p:nvSpPr>
        <p:spPr>
          <a:xfrm>
            <a:off x="2971800" y="178308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FF5C1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3026664" y="1783080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 Feature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(librosa)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138928" y="1984248"/>
            <a:ext cx="201168" cy="146304"/>
          </a:xfrm>
          <a:prstGeom prst="rightArrow">
            <a:avLst/>
          </a:prstGeom>
          <a:solidFill>
            <a:srgbClr val="C9C9C9"/>
          </a:solidFill>
          <a:ln/>
        </p:spPr>
      </p:sp>
      <p:sp>
        <p:nvSpPr>
          <p:cNvPr id="18" name="Shape 13"/>
          <p:cNvSpPr/>
          <p:nvPr/>
        </p:nvSpPr>
        <p:spPr>
          <a:xfrm>
            <a:off x="5394960" y="178308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FF5C1F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49824" y="1783080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Chord Template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→ Chord ID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260604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15762B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03504" y="2606040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Input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715768" y="2807208"/>
            <a:ext cx="201168" cy="146304"/>
          </a:xfrm>
          <a:prstGeom prst="rightArrow">
            <a:avLst/>
          </a:prstGeom>
          <a:solidFill>
            <a:srgbClr val="C9C9C9"/>
          </a:solidFill>
          <a:ln/>
        </p:spPr>
      </p:sp>
      <p:sp>
        <p:nvSpPr>
          <p:cNvPr id="23" name="Shape 18"/>
          <p:cNvSpPr/>
          <p:nvPr/>
        </p:nvSpPr>
        <p:spPr>
          <a:xfrm>
            <a:off x="2971800" y="260604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15762B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3026664" y="2606040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Pose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(Wrist Tracking)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138928" y="2807208"/>
            <a:ext cx="201168" cy="146304"/>
          </a:xfrm>
          <a:prstGeom prst="rightArrow">
            <a:avLst/>
          </a:prstGeom>
          <a:solidFill>
            <a:srgbClr val="C9C9C9"/>
          </a:solidFill>
          <a:ln/>
        </p:spPr>
      </p:sp>
      <p:sp>
        <p:nvSpPr>
          <p:cNvPr id="26" name="Shape 21"/>
          <p:cNvSpPr/>
          <p:nvPr/>
        </p:nvSpPr>
        <p:spPr>
          <a:xfrm>
            <a:off x="5394960" y="260604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15762B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5449824" y="2606040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Direction 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Strum Up / Down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973068" y="3227832"/>
            <a:ext cx="146304" cy="201168"/>
          </a:xfrm>
          <a:prstGeom prst="downArrow">
            <a:avLst/>
          </a:prstGeom>
          <a:solidFill>
            <a:srgbClr val="C9C9C9"/>
          </a:solidFill>
          <a:ln/>
        </p:spPr>
      </p:sp>
      <p:sp>
        <p:nvSpPr>
          <p:cNvPr id="29" name="Shape 24"/>
          <p:cNvSpPr/>
          <p:nvPr/>
        </p:nvSpPr>
        <p:spPr>
          <a:xfrm>
            <a:off x="4541368" y="3538728"/>
            <a:ext cx="3108960" cy="512064"/>
          </a:xfrm>
          <a:prstGeom prst="roundRect">
            <a:avLst>
              <a:gd name="adj" fmla="val 10714"/>
            </a:avLst>
          </a:prstGeom>
          <a:solidFill>
            <a:srgbClr val="8725B4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4541368" y="353872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 Sync / Fusion Engine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022696" y="4105656"/>
            <a:ext cx="146304" cy="201168"/>
          </a:xfrm>
          <a:prstGeom prst="downArrow">
            <a:avLst/>
          </a:prstGeom>
          <a:solidFill>
            <a:srgbClr val="C9C9C9"/>
          </a:solidFill>
          <a:ln/>
        </p:spPr>
      </p:sp>
      <p:sp>
        <p:nvSpPr>
          <p:cNvPr id="32" name="Shape 27"/>
          <p:cNvSpPr/>
          <p:nvPr/>
        </p:nvSpPr>
        <p:spPr>
          <a:xfrm>
            <a:off x="4084168" y="4343400"/>
            <a:ext cx="4023360" cy="512064"/>
          </a:xfrm>
          <a:prstGeom prst="roundRect">
            <a:avLst>
              <a:gd name="adj" fmla="val 10714"/>
            </a:avLst>
          </a:prstGeom>
          <a:solidFill>
            <a:srgbClr val="1A1A1A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4084168" y="434340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Output:  Chord + Strum Direction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6022696" y="4910328"/>
            <a:ext cx="146304" cy="201168"/>
          </a:xfrm>
          <a:prstGeom prst="downArrow">
            <a:avLst/>
          </a:prstGeom>
          <a:solidFill>
            <a:srgbClr val="C9C9C9"/>
          </a:solidFill>
          <a:ln/>
        </p:spPr>
      </p:sp>
      <p:sp>
        <p:nvSpPr>
          <p:cNvPr id="35" name="Shape 30"/>
          <p:cNvSpPr/>
          <p:nvPr/>
        </p:nvSpPr>
        <p:spPr>
          <a:xfrm>
            <a:off x="2986888" y="5148072"/>
            <a:ext cx="2926080" cy="512064"/>
          </a:xfrm>
          <a:prstGeom prst="roundRect">
            <a:avLst>
              <a:gd name="adj" fmla="val 10714"/>
            </a:avLst>
          </a:prstGeom>
          <a:solidFill>
            <a:srgbClr val="E8E8E8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2986888" y="51480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Recorder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6278728" y="5148072"/>
            <a:ext cx="2926080" cy="512064"/>
          </a:xfrm>
          <a:prstGeom prst="roundRect">
            <a:avLst>
              <a:gd name="adj" fmla="val 10714"/>
            </a:avLst>
          </a:prstGeom>
          <a:solidFill>
            <a:srgbClr val="E8E8E8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6278728" y="51480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Chord-Sheet PDF</a:t>
            </a:r>
            <a:endParaRPr lang="en-US" sz="1100" dirty="0"/>
          </a:p>
        </p:txBody>
      </p:sp>
      <p:sp>
        <p:nvSpPr>
          <p:cNvPr id="39" name="Text 34"/>
          <p:cNvSpPr txBox="1"/>
          <p:nvPr/>
        </p:nvSpPr>
        <p:spPr>
          <a:xfrm>
            <a:off x="548640" y="5843016"/>
            <a:ext cx="11311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100" dirty="0"/>
              <a:t>Engineering risk: camera frames and audio buffers run on different latencies — </a:t>
            </a:r>
            <a:r>
              <a:rPr lang="en-IN" sz="1100" dirty="0" err="1"/>
              <a:t>StrumSense</a:t>
            </a:r>
            <a:r>
              <a:rPr lang="en-IN" sz="1100" dirty="0"/>
              <a:t> uses timestamp-based fusion to keep chord detection and strumming feedback synchronized, preventing visible drift.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ni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822960" cy="822960"/>
          </a:xfrm>
          <a:prstGeom prst="rect">
            <a:avLst/>
          </a:prstGeom>
        </p:spPr>
      </p:pic>
      <p:pic>
        <p:nvPicPr>
          <p:cNvPr id="3" name="Image 1" descr="/home/claude/work/assets/logo_codevers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109728"/>
            <a:ext cx="1463040" cy="1188720"/>
          </a:xfrm>
          <a:prstGeom prst="rect">
            <a:avLst/>
          </a:prstGeom>
        </p:spPr>
      </p:pic>
      <p:pic>
        <p:nvPicPr>
          <p:cNvPr id="4" name="Image 2" descr="/home/claude/work/assets/logo_up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292608"/>
            <a:ext cx="777240" cy="77724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74320" y="6565392"/>
            <a:ext cx="4572000" cy="50292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6" name="Shape 1"/>
          <p:cNvSpPr/>
          <p:nvPr/>
        </p:nvSpPr>
        <p:spPr>
          <a:xfrm>
            <a:off x="7342632" y="6565392"/>
            <a:ext cx="4572000" cy="50292"/>
          </a:xfrm>
          <a:prstGeom prst="rect">
            <a:avLst/>
          </a:prstGeom>
          <a:solidFill>
            <a:srgbClr val="15762B"/>
          </a:solidFill>
          <a:ln/>
        </p:spPr>
      </p:sp>
      <p:sp>
        <p:nvSpPr>
          <p:cNvPr id="7" name="Text 2"/>
          <p:cNvSpPr txBox="1"/>
          <p:nvPr/>
        </p:nvSpPr>
        <p:spPr>
          <a:xfrm>
            <a:off x="4846320" y="644652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 </a:t>
            </a:r>
            <a:r>
              <a:rPr lang="en-US" sz="1000" b="1" dirty="0">
                <a:solidFill>
                  <a:srgbClr val="FF5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भारत 2.0</a:t>
            </a:r>
            <a:endParaRPr lang="en-US" sz="1000" dirty="0"/>
          </a:p>
        </p:txBody>
      </p:sp>
      <p:sp>
        <p:nvSpPr>
          <p:cNvPr id="8" name="Shape 3"/>
          <p:cNvSpPr/>
          <p:nvPr/>
        </p:nvSpPr>
        <p:spPr>
          <a:xfrm>
            <a:off x="457200" y="1170432"/>
            <a:ext cx="82296" cy="502920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658368" y="10789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8321040" y="1417320"/>
            <a:ext cx="3429000" cy="0"/>
          </a:xfrm>
          <a:prstGeom prst="line">
            <a:avLst/>
          </a:prstGeom>
          <a:noFill/>
          <a:ln w="25400">
            <a:solidFill>
              <a:srgbClr val="FF5C1F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1750040" y="1362456"/>
            <a:ext cx="109728" cy="109728"/>
          </a:xfrm>
          <a:prstGeom prst="ellipse">
            <a:avLst/>
          </a:prstGeom>
          <a:solidFill>
            <a:srgbClr val="FF5C1F"/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1783080"/>
            <a:ext cx="64008" cy="868680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868680" y="1783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(UI &amp; Camera)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297680" y="178308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(Python) or WebRTC — chosen for rapid hackathon deployment of a live camera + audio UI.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2880360"/>
            <a:ext cx="64008" cy="868680"/>
          </a:xfrm>
          <a:prstGeom prst="rect">
            <a:avLst/>
          </a:prstGeom>
          <a:solidFill>
            <a:srgbClr val="15762B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868680" y="28803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Backend (Strumming)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297680" y="288036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MediaPipe Pose module — tracks wrist Y-axis velocity for robust Up/Down detection (more reliable at speed than full hand/finger landmarks, which blur during fast strumming).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3977640"/>
            <a:ext cx="64008" cy="868680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68680" y="3977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Backend (Chord Detection)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297680" y="397764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librosa — chroma_cqt chromagram + template matching against known chord shapes (C, G, D, Em, etc.), which handles overlapping string harmonics far better than raw FFT peak-picking.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0080" y="5074920"/>
            <a:ext cx="64008" cy="868680"/>
          </a:xfrm>
          <a:prstGeom prst="rect">
            <a:avLst/>
          </a:prstGeom>
          <a:solidFill>
            <a:srgbClr val="15762B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68680" y="50749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Layer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4297680" y="507492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Timestamp-based fusion of the audio buffer and video frame streams, so the chord and strum-direction output stay aligned in real time.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ni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822960" cy="822960"/>
          </a:xfrm>
          <a:prstGeom prst="rect">
            <a:avLst/>
          </a:prstGeom>
        </p:spPr>
      </p:pic>
      <p:pic>
        <p:nvPicPr>
          <p:cNvPr id="3" name="Image 1" descr="/home/claude/work/assets/logo_codevers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109728"/>
            <a:ext cx="1463040" cy="1188720"/>
          </a:xfrm>
          <a:prstGeom prst="rect">
            <a:avLst/>
          </a:prstGeom>
        </p:spPr>
      </p:pic>
      <p:pic>
        <p:nvPicPr>
          <p:cNvPr id="4" name="Image 2" descr="/home/claude/work/assets/logo_up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292608"/>
            <a:ext cx="777240" cy="77724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74320" y="6565392"/>
            <a:ext cx="4572000" cy="50292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6" name="Shape 1"/>
          <p:cNvSpPr/>
          <p:nvPr/>
        </p:nvSpPr>
        <p:spPr>
          <a:xfrm>
            <a:off x="7342632" y="6565392"/>
            <a:ext cx="4572000" cy="50292"/>
          </a:xfrm>
          <a:prstGeom prst="rect">
            <a:avLst/>
          </a:prstGeom>
          <a:solidFill>
            <a:srgbClr val="15762B"/>
          </a:solidFill>
          <a:ln/>
        </p:spPr>
      </p:sp>
      <p:sp>
        <p:nvSpPr>
          <p:cNvPr id="7" name="Text 2"/>
          <p:cNvSpPr txBox="1"/>
          <p:nvPr/>
        </p:nvSpPr>
        <p:spPr>
          <a:xfrm>
            <a:off x="4846320" y="644652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 </a:t>
            </a:r>
            <a:r>
              <a:rPr lang="en-US" sz="1000" b="1" dirty="0">
                <a:solidFill>
                  <a:srgbClr val="FF5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भारत 2.0</a:t>
            </a:r>
            <a:endParaRPr lang="en-US" sz="1000" dirty="0"/>
          </a:p>
        </p:txBody>
      </p:sp>
      <p:sp>
        <p:nvSpPr>
          <p:cNvPr id="8" name="Shape 3"/>
          <p:cNvSpPr/>
          <p:nvPr/>
        </p:nvSpPr>
        <p:spPr>
          <a:xfrm>
            <a:off x="457200" y="1170432"/>
            <a:ext cx="82296" cy="502920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658368" y="10789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SELLING PROPOSITION (USP)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8321040" y="1417320"/>
            <a:ext cx="3429000" cy="0"/>
          </a:xfrm>
          <a:prstGeom prst="line">
            <a:avLst/>
          </a:prstGeom>
          <a:noFill/>
          <a:ln w="25400">
            <a:solidFill>
              <a:srgbClr val="FF5C1F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1750040" y="1362456"/>
            <a:ext cx="109728" cy="109728"/>
          </a:xfrm>
          <a:prstGeom prst="ellipse">
            <a:avLst/>
          </a:prstGeom>
          <a:solidFill>
            <a:srgbClr val="FF5C1F"/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178308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6F6F6"/>
          </a:solidFill>
          <a:ln/>
        </p:spPr>
      </p:sp>
      <p:sp>
        <p:nvSpPr>
          <p:cNvPr id="13" name="Shape 8"/>
          <p:cNvSpPr/>
          <p:nvPr/>
        </p:nvSpPr>
        <p:spPr>
          <a:xfrm>
            <a:off x="640080" y="1783080"/>
            <a:ext cx="73152" cy="1920240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914400" y="194767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Audio + Vision Detection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914400" y="23774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competitors (Yousician, Chordify) are audio-only and cannot see whether the strumming hand is moving in the correct rhythm.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63640" y="178308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6F6F6"/>
          </a:solidFill>
          <a:ln/>
        </p:spPr>
      </p:sp>
      <p:sp>
        <p:nvSpPr>
          <p:cNvPr id="17" name="Shape 12"/>
          <p:cNvSpPr/>
          <p:nvPr/>
        </p:nvSpPr>
        <p:spPr>
          <a:xfrm>
            <a:off x="6263640" y="1783080"/>
            <a:ext cx="73152" cy="1920240"/>
          </a:xfrm>
          <a:prstGeom prst="rect">
            <a:avLst/>
          </a:prstGeom>
          <a:solidFill>
            <a:srgbClr val="15762B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537960" y="194767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Newbie Mode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6537960" y="23774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Ghost-chord diagrams, metronome sync-up, and a slow-mo "Patience Mode" that waits for the correct sound before advancing.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397764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6F6F6"/>
          </a:solidFill>
          <a:ln/>
        </p:spPr>
      </p:sp>
      <p:sp>
        <p:nvSpPr>
          <p:cNvPr id="21" name="Shape 16"/>
          <p:cNvSpPr/>
          <p:nvPr/>
        </p:nvSpPr>
        <p:spPr>
          <a:xfrm>
            <a:off x="640080" y="3977640"/>
            <a:ext cx="73152" cy="1920240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914400" y="414223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Mode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914400" y="45720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Auto-generated, downloadable chord-sheet PDF from a jam session, plus micro-timing analysis (rushing/dragging vs. the beat).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63640" y="397764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6F6F6"/>
          </a:solidFill>
          <a:ln/>
        </p:spPr>
      </p:sp>
      <p:sp>
        <p:nvSpPr>
          <p:cNvPr id="25" name="Shape 20"/>
          <p:cNvSpPr/>
          <p:nvPr/>
        </p:nvSpPr>
        <p:spPr>
          <a:xfrm>
            <a:off x="6263640" y="3977640"/>
            <a:ext cx="73152" cy="1920240"/>
          </a:xfrm>
          <a:prstGeom prst="rect">
            <a:avLst/>
          </a:prstGeom>
          <a:solidFill>
            <a:srgbClr val="15762B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6537960" y="414223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Dashboard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6537960" y="45720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past sessions so users can visually track timing and accuracy improvements over weeks or months.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ni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822960" cy="822960"/>
          </a:xfrm>
          <a:prstGeom prst="rect">
            <a:avLst/>
          </a:prstGeom>
        </p:spPr>
      </p:pic>
      <p:pic>
        <p:nvPicPr>
          <p:cNvPr id="3" name="Image 1" descr="/home/claude/work/assets/logo_codevers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109728"/>
            <a:ext cx="1463040" cy="1188720"/>
          </a:xfrm>
          <a:prstGeom prst="rect">
            <a:avLst/>
          </a:prstGeom>
        </p:spPr>
      </p:pic>
      <p:pic>
        <p:nvPicPr>
          <p:cNvPr id="4" name="Image 2" descr="/home/claude/work/assets/logo_up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292608"/>
            <a:ext cx="777240" cy="77724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74320" y="6565392"/>
            <a:ext cx="4572000" cy="50292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6" name="Shape 1"/>
          <p:cNvSpPr/>
          <p:nvPr/>
        </p:nvSpPr>
        <p:spPr>
          <a:xfrm>
            <a:off x="7342632" y="6565392"/>
            <a:ext cx="4572000" cy="50292"/>
          </a:xfrm>
          <a:prstGeom prst="rect">
            <a:avLst/>
          </a:prstGeom>
          <a:solidFill>
            <a:srgbClr val="15762B"/>
          </a:solidFill>
          <a:ln/>
        </p:spPr>
      </p:sp>
      <p:sp>
        <p:nvSpPr>
          <p:cNvPr id="7" name="Text 2"/>
          <p:cNvSpPr txBox="1"/>
          <p:nvPr/>
        </p:nvSpPr>
        <p:spPr>
          <a:xfrm>
            <a:off x="4846320" y="644652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 </a:t>
            </a:r>
            <a:r>
              <a:rPr lang="en-US" sz="1000" b="1" dirty="0">
                <a:solidFill>
                  <a:srgbClr val="FF5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भारत 2.0</a:t>
            </a:r>
            <a:endParaRPr lang="en-US" sz="1000" dirty="0"/>
          </a:p>
        </p:txBody>
      </p:sp>
      <p:sp>
        <p:nvSpPr>
          <p:cNvPr id="8" name="Shape 3"/>
          <p:cNvSpPr/>
          <p:nvPr/>
        </p:nvSpPr>
        <p:spPr>
          <a:xfrm>
            <a:off x="457200" y="1170432"/>
            <a:ext cx="82296" cy="502920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658368" y="10789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COMPETITORS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8321040" y="1417320"/>
            <a:ext cx="3429000" cy="0"/>
          </a:xfrm>
          <a:prstGeom prst="line">
            <a:avLst/>
          </a:prstGeom>
          <a:noFill/>
          <a:ln w="25400">
            <a:solidFill>
              <a:srgbClr val="FF5C1F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1750040" y="1362456"/>
            <a:ext cx="109728" cy="109728"/>
          </a:xfrm>
          <a:prstGeom prst="ellipse">
            <a:avLst/>
          </a:prstGeom>
          <a:solidFill>
            <a:srgbClr val="FF5C1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72216" cy="155448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Yousician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Chordify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StrumSense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</a:rPr>
                        <a:t>Chord Detection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762B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762B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762B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</a:rPr>
                        <a:t>Strum Direction Detection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00020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00020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762B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</a:rPr>
                        <a:t>Auto Chord-Sheet Generation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00020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</a:rPr>
                        <a:t>Partial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762B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</a:rPr>
                        <a:t>Micro-Timing Analysis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00020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B00020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762B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64008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MVP Scope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640080" y="38404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Streamlit app with live camera feed — MediaPipe prints UP/DOWN while the mic detects 3–4 pre-programmed open chords.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features (Newbie/Pro modes, timeline analytics, auto-PDF) shown as high-quality Figma mockups in the pitch deck.</a:t>
            </a:r>
            <a:endParaRPr lang="en-US" sz="1250" dirty="0"/>
          </a:p>
        </p:txBody>
      </p:sp>
      <p:sp>
        <p:nvSpPr>
          <p:cNvPr id="15" name="Text 9"/>
          <p:cNvSpPr txBox="1"/>
          <p:nvPr/>
        </p:nvSpPr>
        <p:spPr>
          <a:xfrm>
            <a:off x="64008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 &amp; Mitigation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51206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Audio-video sync drift → timestamp-fuse both streams at the fusion layer.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mic/camera demo risk on stage → always keep a pre-recorded backup demo video ready.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ni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822960" cy="822960"/>
          </a:xfrm>
          <a:prstGeom prst="rect">
            <a:avLst/>
          </a:prstGeom>
        </p:spPr>
      </p:pic>
      <p:pic>
        <p:nvPicPr>
          <p:cNvPr id="3" name="Image 1" descr="/home/claude/work/assets/logo_codevers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109728"/>
            <a:ext cx="1463040" cy="1188720"/>
          </a:xfrm>
          <a:prstGeom prst="rect">
            <a:avLst/>
          </a:prstGeom>
        </p:spPr>
      </p:pic>
      <p:pic>
        <p:nvPicPr>
          <p:cNvPr id="4" name="Image 2" descr="/home/claude/work/assets/logo_up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0" y="292608"/>
            <a:ext cx="777240" cy="77724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74320" y="6565392"/>
            <a:ext cx="4572000" cy="50292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6" name="Shape 1"/>
          <p:cNvSpPr/>
          <p:nvPr/>
        </p:nvSpPr>
        <p:spPr>
          <a:xfrm>
            <a:off x="7342632" y="6565392"/>
            <a:ext cx="4572000" cy="50292"/>
          </a:xfrm>
          <a:prstGeom prst="rect">
            <a:avLst/>
          </a:prstGeom>
          <a:solidFill>
            <a:srgbClr val="15762B"/>
          </a:solidFill>
          <a:ln/>
        </p:spPr>
      </p:sp>
      <p:sp>
        <p:nvSpPr>
          <p:cNvPr id="7" name="Text 2"/>
          <p:cNvSpPr txBox="1"/>
          <p:nvPr/>
        </p:nvSpPr>
        <p:spPr>
          <a:xfrm>
            <a:off x="4846320" y="644652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 </a:t>
            </a:r>
            <a:r>
              <a:rPr lang="en-US" sz="1000" b="1" dirty="0">
                <a:solidFill>
                  <a:srgbClr val="FF5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भारत 2.0</a:t>
            </a:r>
            <a:endParaRPr lang="en-US" sz="1000" dirty="0"/>
          </a:p>
        </p:txBody>
      </p:sp>
      <p:sp>
        <p:nvSpPr>
          <p:cNvPr id="8" name="Shape 3"/>
          <p:cNvSpPr/>
          <p:nvPr/>
        </p:nvSpPr>
        <p:spPr>
          <a:xfrm>
            <a:off x="457200" y="1170432"/>
            <a:ext cx="82296" cy="502920"/>
          </a:xfrm>
          <a:prstGeom prst="rect">
            <a:avLst/>
          </a:prstGeom>
          <a:solidFill>
            <a:srgbClr val="FF5C1F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658368" y="10789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REFERENCE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8321040" y="1417320"/>
            <a:ext cx="3429000" cy="0"/>
          </a:xfrm>
          <a:prstGeom prst="line">
            <a:avLst/>
          </a:prstGeom>
          <a:noFill/>
          <a:ln w="25400">
            <a:solidFill>
              <a:srgbClr val="FF5C1F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1750040" y="1362456"/>
            <a:ext cx="109728" cy="109728"/>
          </a:xfrm>
          <a:prstGeom prst="ellipse">
            <a:avLst/>
          </a:prstGeom>
          <a:solidFill>
            <a:srgbClr val="FF5C1F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64008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130552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MediaPipe — Pose landmark detection documentation.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librosa — chroma_cqt / chord-recognition reference implementations.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Yousician &amp; Chordify — reviewed as closest competitor apps for feasibility benchmarking.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40080" y="3749040"/>
            <a:ext cx="1088136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  </a:t>
            </a:r>
            <a:r>
              <a:rPr lang="en-IN" sz="1400" dirty="0"/>
              <a:t>github.com/</a:t>
            </a:r>
            <a:r>
              <a:rPr lang="en-IN" sz="1400" dirty="0" err="1"/>
              <a:t>amansinghrajput-asr</a:t>
            </a:r>
            <a:r>
              <a:rPr lang="en-IN" sz="1400" dirty="0"/>
              <a:t>/</a:t>
            </a:r>
            <a:r>
              <a:rPr lang="en-IN" sz="1400" dirty="0" err="1"/>
              <a:t>StrumSense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 Link:  </a:t>
            </a:r>
            <a:r>
              <a:rPr lang="en-US" sz="14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your demo link here]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5349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5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6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6899AFB-00CC-1DF5-6B17-56C07E1147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4999" y="3886200"/>
            <a:ext cx="1623527" cy="162352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D0E17CE-03C1-56C2-A3AD-7B9BC9DFEF5A}"/>
              </a:ext>
            </a:extLst>
          </p:cNvPr>
          <p:cNvSpPr txBox="1"/>
          <p:nvPr/>
        </p:nvSpPr>
        <p:spPr>
          <a:xfrm>
            <a:off x="9478034" y="5365183"/>
            <a:ext cx="183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Explore the 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814</Words>
  <Application>Microsoft Office PowerPoint</Application>
  <PresentationFormat>Widescreen</PresentationFormat>
  <Paragraphs>111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Aman Singh</cp:lastModifiedBy>
  <cp:revision>1</cp:revision>
  <dcterms:created xsi:type="dcterms:W3CDTF">2026-08-28T18:27:58Z</dcterms:created>
  <dcterms:modified xsi:type="dcterms:W3CDTF">2026-09-01T11:30:16Z</dcterms:modified>
</cp:coreProperties>
</file>